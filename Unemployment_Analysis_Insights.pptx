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857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548640"/>
            <a:ext cx="3200400" cy="3200400"/>
          </a:xfrm>
          <a:prstGeom prst="ellipse">
            <a:avLst/>
          </a:prstGeom>
          <a:solidFill>
            <a:srgbClr val="0A3550"/>
          </a:solidFill>
          <a:ln/>
        </p:spPr>
      </p:sp>
      <p:sp>
        <p:nvSpPr>
          <p:cNvPr id="4" name="Shape 2"/>
          <p:cNvSpPr/>
          <p:nvPr/>
        </p:nvSpPr>
        <p:spPr>
          <a:xfrm>
            <a:off x="7307440" y="914400"/>
            <a:ext cx="2468880" cy="246888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WITH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029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68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COVID-19 on India's Unemployment Rates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554480" cy="32004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00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76272" y="3200400"/>
            <a:ext cx="1554480" cy="32004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3200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95344" y="3200400"/>
            <a:ext cx="1554480" cy="32004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4" name="Text 12"/>
          <p:cNvSpPr/>
          <p:nvPr/>
        </p:nvSpPr>
        <p:spPr>
          <a:xfrm>
            <a:off x="3895344" y="3200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Impact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14416" y="3200400"/>
            <a:ext cx="1554480" cy="32004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6" name="Text 14"/>
          <p:cNvSpPr/>
          <p:nvPr/>
        </p:nvSpPr>
        <p:spPr>
          <a:xfrm>
            <a:off x="5614416" y="3200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33488" y="3200400"/>
            <a:ext cx="1554480" cy="32004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8" name="Text 16"/>
          <p:cNvSpPr/>
          <p:nvPr/>
        </p:nvSpPr>
        <p:spPr>
          <a:xfrm>
            <a:off x="7333488" y="3200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Insights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8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|  Python Data Analysis  |  India Unemployment Dataset (2019–2020)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404EB3D4-CC1A-1D00-A1F3-6C78533729CA}"/>
              </a:ext>
            </a:extLst>
          </p:cNvPr>
          <p:cNvSpPr/>
          <p:nvPr/>
        </p:nvSpPr>
        <p:spPr>
          <a:xfrm>
            <a:off x="8023440" y="1275588"/>
            <a:ext cx="1752880" cy="1856232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93392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993392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2588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Unemployment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754 rows × 7 columns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2019–2020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143000"/>
            <a:ext cx="1993392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143000"/>
            <a:ext cx="1993392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32588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20116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42032" y="24688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unemployment 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COVID impact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seasonal patterns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143000"/>
            <a:ext cx="1993392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143000"/>
            <a:ext cx="1993392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132588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🛠️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26864" y="20116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18304" y="24688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1143000"/>
            <a:ext cx="1993392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143000"/>
            <a:ext cx="1993392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32588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03136" y="20116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94576" y="24688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visualizations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statistical findings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Policy-level insights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26A8CECE-D7B1-24FB-2367-A1D93DCE9761}"/>
              </a:ext>
            </a:extLst>
          </p:cNvPr>
          <p:cNvSpPr/>
          <p:nvPr/>
        </p:nvSpPr>
        <p:spPr>
          <a:xfrm>
            <a:off x="7802711" y="-840989"/>
            <a:ext cx="2133938" cy="20574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A101BD75-5FAE-E69E-69C8-1A378A72D676}"/>
              </a:ext>
            </a:extLst>
          </p:cNvPr>
          <p:cNvSpPr/>
          <p:nvPr/>
        </p:nvSpPr>
        <p:spPr>
          <a:xfrm>
            <a:off x="-676656" y="3717037"/>
            <a:ext cx="1993392" cy="1920239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1325880"/>
          </a:xfrm>
          <a:prstGeom prst="rect">
            <a:avLst/>
          </a:prstGeom>
          <a:solidFill>
            <a:srgbClr val="CAE9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051560"/>
            <a:ext cx="1828800" cy="1325880"/>
          </a:xfrm>
          <a:prstGeom prst="rect">
            <a:avLst/>
          </a:prstGeom>
          <a:solidFill>
            <a:srgbClr val="CAE9FF"/>
          </a:solidFill>
          <a:ln/>
        </p:spPr>
      </p:sp>
      <p:sp>
        <p:nvSpPr>
          <p:cNvPr id="8" name="Text 6"/>
          <p:cNvSpPr/>
          <p:nvPr/>
        </p:nvSpPr>
        <p:spPr>
          <a:xfrm>
            <a:off x="2542032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42032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column)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051560"/>
            <a:ext cx="1828800" cy="1325880"/>
          </a:xfrm>
          <a:prstGeom prst="rect">
            <a:avLst/>
          </a:prstGeom>
          <a:solidFill>
            <a:srgbClr val="CAE9FF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26864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1696" y="1051560"/>
            <a:ext cx="1828800" cy="1325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711696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711696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drop)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243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624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560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 Removal: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256032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removed 14 rows with missing values across all 7 columns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218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154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31546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 found — data integrity confirmed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130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3749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Cleanup: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37490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whitespace from column names, dropped 'Frequency' column (not needed)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407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343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14600" y="434340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→ datetime64, Region &amp; Area → category dtype for memory efficiency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11.79%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Unemployment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64008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371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Unemployment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64008" cy="14173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371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10.72%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72200" y="2011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64008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17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Rate Observed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64008" cy="14173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017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37560" y="3657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Rate Observed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834640"/>
            <a:ext cx="64008" cy="14173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017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~7.2M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72200" y="3657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Employed (persons)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Unemployment rate is right-skewed — a few regions/periods show extreme spikes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revealed the distribution shape of three core variables: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859536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64008" cy="10515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 (%)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1371600" cy="292608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554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Skewed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regions have low-to-moderate unemployment but some regions/months spike dramatically — pulling the mean above the median (11.79% vs 8.35%).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33472"/>
            <a:ext cx="6400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066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Employed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724912"/>
            <a:ext cx="1371600" cy="292608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7249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Skewed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is highly concentrated in larger states. A few populous states (UP, Maharashtra) dominate the higher end, creating a long right tail.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803904"/>
            <a:ext cx="859536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03904"/>
            <a:ext cx="64008" cy="10515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770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Participation Rate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895344"/>
            <a:ext cx="1371600" cy="292608"/>
          </a:xfrm>
          <a:prstGeom prst="round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8953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Curved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27939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participation rate is normally distributed — indicating balanced participation across most regions with fewer extreme outliers.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 ON UNEMPLOYMENT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1828800"/>
          </a:xfrm>
          <a:prstGeom prst="rect">
            <a:avLst/>
          </a:prstGeom>
          <a:solidFill>
            <a:srgbClr val="12284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64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~8–9%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Pre-COVID Avg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(May 2019 – Feb 2020)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560320" cy="1828800"/>
          </a:xfrm>
          <a:prstGeom prst="rect">
            <a:avLst/>
          </a:prstGeom>
          <a:solidFill>
            <a:srgbClr val="122844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005840"/>
            <a:ext cx="256032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~23%+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375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COVID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395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(April–May 2020)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560320" cy="1828800"/>
          </a:xfrm>
          <a:prstGeom prst="rect">
            <a:avLst/>
          </a:prstGeom>
          <a:solidFill>
            <a:srgbClr val="12284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005840"/>
            <a:ext cx="2560320" cy="64008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~2.5×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Increase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395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during lockdown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Monthly Unemployment Trend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143375"/>
            <a:ext cx="822960" cy="428625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69055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38528" y="4154805"/>
            <a:ext cx="822960" cy="417195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938528" y="3880485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38528" y="4617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28416" y="4069080"/>
            <a:ext cx="822960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3328416" y="37947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28416" y="4617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18304" y="3457575"/>
            <a:ext cx="822960" cy="111442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4718304" y="3183255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18304" y="4617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08192" y="3228975"/>
            <a:ext cx="822960" cy="134302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Text 32"/>
          <p:cNvSpPr/>
          <p:nvPr/>
        </p:nvSpPr>
        <p:spPr>
          <a:xfrm>
            <a:off x="6108192" y="2954655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8192" y="4617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0" y="3714750"/>
            <a:ext cx="822960" cy="85725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0" y="344043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98080" y="4617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4572000"/>
            <a:ext cx="832104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Lockdown begins (March 2020)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6394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UNEMPLOYMENT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unemployment rate by month — visualized as a bar chart (Seaborn, Viridis palette)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2882189"/>
            <a:ext cx="566928" cy="104973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2626157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01268" y="2920594"/>
            <a:ext cx="566928" cy="1011326"/>
          </a:xfrm>
          <a:prstGeom prst="rect">
            <a:avLst/>
          </a:prstGeom>
          <a:solidFill>
            <a:srgbClr val="076585"/>
          </a:solidFill>
          <a:ln/>
        </p:spPr>
      </p:sp>
      <p:sp>
        <p:nvSpPr>
          <p:cNvPr id="9" name="Text 7"/>
          <p:cNvSpPr/>
          <p:nvPr/>
        </p:nvSpPr>
        <p:spPr>
          <a:xfrm>
            <a:off x="1001268" y="266456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01268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28216" y="2715768"/>
            <a:ext cx="566928" cy="1216152"/>
          </a:xfrm>
          <a:prstGeom prst="rect">
            <a:avLst/>
          </a:prstGeom>
          <a:solidFill>
            <a:srgbClr val="087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728216" y="2459736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28216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55164" y="1781251"/>
            <a:ext cx="566928" cy="2150669"/>
          </a:xfrm>
          <a:prstGeom prst="rect">
            <a:avLst/>
          </a:prstGeom>
          <a:solidFill>
            <a:srgbClr val="097B9A"/>
          </a:solidFill>
          <a:ln/>
        </p:spPr>
      </p:sp>
      <p:sp>
        <p:nvSpPr>
          <p:cNvPr id="15" name="Text 13"/>
          <p:cNvSpPr/>
          <p:nvPr/>
        </p:nvSpPr>
        <p:spPr>
          <a:xfrm>
            <a:off x="2455164" y="1525219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455164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82112" y="1499616"/>
            <a:ext cx="566928" cy="2432304"/>
          </a:xfrm>
          <a:prstGeom prst="rect">
            <a:avLst/>
          </a:prstGeom>
          <a:solidFill>
            <a:srgbClr val="0A87A5"/>
          </a:solidFill>
          <a:ln/>
        </p:spPr>
      </p:sp>
      <p:sp>
        <p:nvSpPr>
          <p:cNvPr id="18" name="Text 16"/>
          <p:cNvSpPr/>
          <p:nvPr/>
        </p:nvSpPr>
        <p:spPr>
          <a:xfrm>
            <a:off x="3182112" y="1243584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182112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09060" y="2139696"/>
            <a:ext cx="566928" cy="1792224"/>
          </a:xfrm>
          <a:prstGeom prst="rect">
            <a:avLst/>
          </a:prstGeom>
          <a:solidFill>
            <a:srgbClr val="0B92B0"/>
          </a:solidFill>
          <a:ln/>
        </p:spPr>
      </p:sp>
      <p:sp>
        <p:nvSpPr>
          <p:cNvPr id="21" name="Text 19"/>
          <p:cNvSpPr/>
          <p:nvPr/>
        </p:nvSpPr>
        <p:spPr>
          <a:xfrm>
            <a:off x="3909060" y="1883664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909060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36008" y="2766974"/>
            <a:ext cx="566928" cy="1164946"/>
          </a:xfrm>
          <a:prstGeom prst="rect">
            <a:avLst/>
          </a:prstGeom>
          <a:solidFill>
            <a:srgbClr val="0C9DBB"/>
          </a:solidFill>
          <a:ln/>
        </p:spPr>
      </p:sp>
      <p:sp>
        <p:nvSpPr>
          <p:cNvPr id="24" name="Text 22"/>
          <p:cNvSpPr/>
          <p:nvPr/>
        </p:nvSpPr>
        <p:spPr>
          <a:xfrm>
            <a:off x="4636008" y="251094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6008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62956" y="2805379"/>
            <a:ext cx="566928" cy="1126541"/>
          </a:xfrm>
          <a:prstGeom prst="rect">
            <a:avLst/>
          </a:prstGeom>
          <a:solidFill>
            <a:srgbClr val="0DA8C6"/>
          </a:solidFill>
          <a:ln/>
        </p:spPr>
      </p:sp>
      <p:sp>
        <p:nvSpPr>
          <p:cNvPr id="27" name="Text 25"/>
          <p:cNvSpPr/>
          <p:nvPr/>
        </p:nvSpPr>
        <p:spPr>
          <a:xfrm>
            <a:off x="5362956" y="2549347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362956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89904" y="2741371"/>
            <a:ext cx="566928" cy="1190549"/>
          </a:xfrm>
          <a:prstGeom prst="rect">
            <a:avLst/>
          </a:prstGeom>
          <a:solidFill>
            <a:srgbClr val="0EB3D1"/>
          </a:solidFill>
          <a:ln/>
        </p:spPr>
      </p:sp>
      <p:sp>
        <p:nvSpPr>
          <p:cNvPr id="30" name="Text 28"/>
          <p:cNvSpPr/>
          <p:nvPr/>
        </p:nvSpPr>
        <p:spPr>
          <a:xfrm>
            <a:off x="6089904" y="2485339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089904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16852" y="2843784"/>
            <a:ext cx="566928" cy="1088136"/>
          </a:xfrm>
          <a:prstGeom prst="rect">
            <a:avLst/>
          </a:prstGeom>
          <a:solidFill>
            <a:srgbClr val="0FBEDC"/>
          </a:solidFill>
          <a:ln/>
        </p:spPr>
      </p:sp>
      <p:sp>
        <p:nvSpPr>
          <p:cNvPr id="33" name="Text 31"/>
          <p:cNvSpPr/>
          <p:nvPr/>
        </p:nvSpPr>
        <p:spPr>
          <a:xfrm>
            <a:off x="6816852" y="258775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816852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543800" y="2907792"/>
            <a:ext cx="566928" cy="1024128"/>
          </a:xfrm>
          <a:prstGeom prst="rect">
            <a:avLst/>
          </a:prstGeom>
          <a:solidFill>
            <a:srgbClr val="10C9E7"/>
          </a:solidFill>
          <a:ln/>
        </p:spPr>
      </p:sp>
      <p:sp>
        <p:nvSpPr>
          <p:cNvPr id="36" name="Text 34"/>
          <p:cNvSpPr/>
          <p:nvPr/>
        </p:nvSpPr>
        <p:spPr>
          <a:xfrm>
            <a:off x="7543800" y="2651760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543800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70748" y="2869387"/>
            <a:ext cx="566928" cy="1062533"/>
          </a:xfrm>
          <a:prstGeom prst="rect">
            <a:avLst/>
          </a:prstGeom>
          <a:solidFill>
            <a:srgbClr val="11D4F2"/>
          </a:solidFill>
          <a:ln/>
        </p:spPr>
      </p:sp>
      <p:sp>
        <p:nvSpPr>
          <p:cNvPr id="39" name="Text 37"/>
          <p:cNvSpPr/>
          <p:nvPr/>
        </p:nvSpPr>
        <p:spPr>
          <a:xfrm>
            <a:off x="8270748" y="2613355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270748" y="3950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3931920"/>
            <a:ext cx="8631936" cy="0"/>
          </a:xfrm>
          <a:prstGeom prst="line">
            <a:avLst/>
          </a:prstGeom>
          <a:noFill/>
          <a:ln w="12700">
            <a:solidFill>
              <a:srgbClr val="CCDD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April–May 2020 spike due to COVID-19 lockdown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Pre-pandemic months (Jan–Mar 2019) show rates around 7–9%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6908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Gradual recovery from June 2020 onward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37760" y="46908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No strong recurring seasonal pattern outside the pandemic period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UNEMPLOYMENT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impact varied significantly across Indian states — revealed via grouped bar chart (Plotly):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03120" y="1481328"/>
            <a:ext cx="507492" cy="2011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2656332" y="14813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03120" y="1709928"/>
            <a:ext cx="1659636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808476" y="17099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12.1%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0391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2057400"/>
            <a:ext cx="1261872" cy="2011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20574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03120" y="2286000"/>
            <a:ext cx="384048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2860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6151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2633472"/>
            <a:ext cx="891540" cy="2011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3040380" y="2633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2862072"/>
            <a:ext cx="253746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4686300" y="28620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1912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03120" y="3209544"/>
            <a:ext cx="987552" cy="2011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3136392" y="32095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103120" y="3438144"/>
            <a:ext cx="2112264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4261104" y="34381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37673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03120" y="3785616"/>
            <a:ext cx="795528" cy="2011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2944368" y="378561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103120" y="4014216"/>
            <a:ext cx="2029968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4178808" y="401421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43434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03120" y="4361688"/>
            <a:ext cx="672084" cy="2011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2820924" y="43616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103120" y="4590288"/>
            <a:ext cx="2359152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Text 32"/>
          <p:cNvSpPr/>
          <p:nvPr/>
        </p:nvSpPr>
        <p:spPr>
          <a:xfrm>
            <a:off x="4507992" y="45902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1554480"/>
            <a:ext cx="228600" cy="16459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15544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COVID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1828800"/>
            <a:ext cx="228600" cy="1645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18288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COVID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983480"/>
            <a:ext cx="8595360" cy="36576"/>
          </a:xfrm>
          <a:prstGeom prst="rect">
            <a:avLst/>
          </a:prstGeom>
          <a:solidFill>
            <a:srgbClr val="CAE9FF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areas (Delhi, Maharashtra) saw far sharper spikes than rural/semi-urban states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16052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2161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Urban Support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regions like Delhi faced unemployment rates 3× higher than rural areas during COVID. Targeted financial relief and job creation in cities is essential.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416052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2161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Response Mechanism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6459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sudden spike from ~8% to ~23% in just 2 months (Mar–May 2020) highlights the need for rapid employment safety nets and emergency social protection schemes.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4160520" cy="64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182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Participation Programs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participation rate followed a normal distribution suggesting balanced underlying workforce — programs must focus on retaining existing workers during crises.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01752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017520"/>
            <a:ext cx="4160520" cy="64008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3182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Monitoring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6118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state-level tracking of unemployment enables early detection of regional disparities and allows policymakers to deploy resources before issues escalate.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314614"/>
            <a:ext cx="2915728" cy="2628986"/>
          </a:xfrm>
          <a:prstGeom prst="ellipse">
            <a:avLst/>
          </a:prstGeom>
          <a:solidFill>
            <a:srgbClr val="0A3550"/>
          </a:solidFill>
          <a:ln/>
        </p:spPr>
      </p:sp>
      <p:sp>
        <p:nvSpPr>
          <p:cNvPr id="4" name="Shape 2"/>
          <p:cNvSpPr/>
          <p:nvPr/>
        </p:nvSpPr>
        <p:spPr>
          <a:xfrm>
            <a:off x="7332453" y="-457200"/>
            <a:ext cx="2725947" cy="2363724"/>
          </a:xfrm>
          <a:prstGeom prst="ellipse">
            <a:avLst/>
          </a:prstGeom>
          <a:solidFill>
            <a:srgbClr val="0A35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05840" y="1188720"/>
            <a:ext cx="54864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1887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unemployment rate nearly tripled during the COVID-19 lockdown (March–May 2020)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847088"/>
            <a:ext cx="54864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84708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states saw disproportionately higher unemployment surges compared to rural states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505456"/>
            <a:ext cx="54864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50545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 &amp; Employed data are right-skewed; Labour Participation Rate is normally distributed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3163824"/>
            <a:ext cx="54864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16382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seasonal pattern exists outside the pandemic — COVID was the dominant driver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3822192"/>
            <a:ext cx="54864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Seaborn, Plotly) enabled efficient data cleaning, analysis, and visualization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572000"/>
            <a:ext cx="7315200" cy="3657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8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Unemployment Analysis with Python  ·  India Dataset (2019–2020)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F5037D69-A5B2-AA13-649C-370E33CF0B14}"/>
              </a:ext>
            </a:extLst>
          </p:cNvPr>
          <p:cNvSpPr/>
          <p:nvPr/>
        </p:nvSpPr>
        <p:spPr>
          <a:xfrm>
            <a:off x="7824158" y="-422910"/>
            <a:ext cx="1848684" cy="184023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C7EC66EF-641C-C80A-CE38-1F8DB76ACA96}"/>
              </a:ext>
            </a:extLst>
          </p:cNvPr>
          <p:cNvSpPr/>
          <p:nvPr/>
        </p:nvSpPr>
        <p:spPr>
          <a:xfrm>
            <a:off x="-701543" y="3822192"/>
            <a:ext cx="1890263" cy="13716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758</Words>
  <Application>Microsoft Office PowerPoint</Application>
  <PresentationFormat>On-screen Show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Unemployment Analysis with Python</dc:title>
  <dc:subject>PptxGenJS Presentation</dc:subject>
  <dc:creator>PptxGenJS</dc:creator>
  <cp:lastModifiedBy>Vicky</cp:lastModifiedBy>
  <cp:revision>2</cp:revision>
  <dcterms:created xsi:type="dcterms:W3CDTF">2026-05-15T11:48:02Z</dcterms:created>
  <dcterms:modified xsi:type="dcterms:W3CDTF">2026-05-18T08:05:00Z</dcterms:modified>
</cp:coreProperties>
</file>